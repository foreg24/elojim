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73" r:id="rId5"/>
    <p:sldId id="260" r:id="rId6"/>
    <p:sldId id="264" r:id="rId7"/>
    <p:sldId id="277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EEAF0-510F-48B7-BF8B-A1F736BB817E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D0D01-CDB5-40B6-9226-F71ADE71D52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855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D0D01-CDB5-40B6-9226-F71ADE71D52F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724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08839" y="994283"/>
            <a:ext cx="412632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53544" y="994283"/>
            <a:ext cx="503691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1375" y="935511"/>
            <a:ext cx="6827520" cy="288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elojim@elojimjadach.org" TargetMode="External"/><Relationship Id="rId2" Type="http://schemas.openxmlformats.org/officeDocument/2006/relationships/hyperlink" Target="http://www.elojimjadach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4.png"/><Relationship Id="rId4" Type="http://schemas.openxmlformats.org/officeDocument/2006/relationships/hyperlink" Target="mailto:elojim.jadach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6" y="0"/>
            <a:ext cx="8572500" cy="51435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39413" y="0"/>
            <a:ext cx="5304790" cy="5143500"/>
          </a:xfrm>
          <a:custGeom>
            <a:avLst/>
            <a:gdLst/>
            <a:ahLst/>
            <a:cxnLst/>
            <a:rect l="l" t="t" r="r" b="b"/>
            <a:pathLst>
              <a:path w="5304790" h="5143500">
                <a:moveTo>
                  <a:pt x="5304586" y="5143499"/>
                </a:moveTo>
                <a:lnTo>
                  <a:pt x="870291" y="5143499"/>
                </a:lnTo>
                <a:lnTo>
                  <a:pt x="0" y="0"/>
                </a:lnTo>
                <a:lnTo>
                  <a:pt x="5304586" y="0"/>
                </a:lnTo>
                <a:lnTo>
                  <a:pt x="5304586" y="5143499"/>
                </a:lnTo>
                <a:close/>
              </a:path>
            </a:pathLst>
          </a:custGeom>
          <a:solidFill>
            <a:srgbClr val="143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83125" y="1334060"/>
            <a:ext cx="397987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lang="es-MX" sz="2800" b="1" dirty="0">
                <a:solidFill>
                  <a:srgbClr val="F3F3F3"/>
                </a:solidFill>
                <a:latin typeface="Arial"/>
                <a:cs typeface="Arial"/>
              </a:rPr>
              <a:t>Cultura, creatividad e inclusión</a:t>
            </a:r>
            <a:endParaRPr lang="es-MX" sz="28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10519" y="-9525"/>
            <a:ext cx="2943225" cy="1740535"/>
            <a:chOff x="6210519" y="-9525"/>
            <a:chExt cx="2943225" cy="1740535"/>
          </a:xfrm>
        </p:grpSpPr>
        <p:sp>
          <p:nvSpPr>
            <p:cNvPr id="9" name="object 9"/>
            <p:cNvSpPr/>
            <p:nvPr/>
          </p:nvSpPr>
          <p:spPr>
            <a:xfrm>
              <a:off x="6220044" y="0"/>
              <a:ext cx="2924175" cy="1721485"/>
            </a:xfrm>
            <a:custGeom>
              <a:avLst/>
              <a:gdLst/>
              <a:ahLst/>
              <a:cxnLst/>
              <a:rect l="l" t="t" r="r" b="b"/>
              <a:pathLst>
                <a:path w="2924175" h="1721485">
                  <a:moveTo>
                    <a:pt x="2509007" y="1721308"/>
                  </a:moveTo>
                  <a:lnTo>
                    <a:pt x="0" y="0"/>
                  </a:lnTo>
                  <a:lnTo>
                    <a:pt x="10304" y="0"/>
                  </a:lnTo>
                  <a:lnTo>
                    <a:pt x="2509955" y="1714811"/>
                  </a:lnTo>
                  <a:lnTo>
                    <a:pt x="2530877" y="1714811"/>
                  </a:lnTo>
                  <a:lnTo>
                    <a:pt x="2509007" y="1721308"/>
                  </a:lnTo>
                  <a:close/>
                </a:path>
                <a:path w="2924175" h="1721485">
                  <a:moveTo>
                    <a:pt x="2530877" y="1714811"/>
                  </a:moveTo>
                  <a:lnTo>
                    <a:pt x="2509955" y="1714811"/>
                  </a:lnTo>
                  <a:lnTo>
                    <a:pt x="2923955" y="1591878"/>
                  </a:lnTo>
                  <a:lnTo>
                    <a:pt x="2923955" y="1598028"/>
                  </a:lnTo>
                  <a:lnTo>
                    <a:pt x="2530877" y="171481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20044" y="0"/>
              <a:ext cx="2924175" cy="1721485"/>
            </a:xfrm>
            <a:custGeom>
              <a:avLst/>
              <a:gdLst/>
              <a:ahLst/>
              <a:cxnLst/>
              <a:rect l="l" t="t" r="r" b="b"/>
              <a:pathLst>
                <a:path w="2924175" h="1721485">
                  <a:moveTo>
                    <a:pt x="10304" y="0"/>
                  </a:moveTo>
                  <a:lnTo>
                    <a:pt x="2509955" y="1714811"/>
                  </a:lnTo>
                  <a:lnTo>
                    <a:pt x="2923955" y="1591878"/>
                  </a:lnTo>
                </a:path>
                <a:path w="2924175" h="1721485">
                  <a:moveTo>
                    <a:pt x="2923955" y="1598028"/>
                  </a:moveTo>
                  <a:lnTo>
                    <a:pt x="2510361" y="1720902"/>
                  </a:lnTo>
                  <a:lnTo>
                    <a:pt x="2509007" y="1721308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2E5F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83125" y="3259684"/>
            <a:ext cx="3623310" cy="738023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lang="es-ES" sz="1200" spc="-25" dirty="0">
                <a:solidFill>
                  <a:srgbClr val="F3F3F3"/>
                </a:solidFill>
                <a:latin typeface="Tahoma"/>
                <a:cs typeface="Tahoma"/>
              </a:rPr>
              <a:t>El desarrollo de la cultura a través de las artes contribuye a los objetivos de desarrollo sostenible fortaleciendo habilidades blandas esenciales y promoviendo la inclusión y la creatividad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70562" y="4014899"/>
            <a:ext cx="906873" cy="89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C852E47-354B-F61B-9193-ABC2BFF405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3"/>
          <a:stretch/>
        </p:blipFill>
        <p:spPr>
          <a:xfrm>
            <a:off x="304800" y="9175"/>
            <a:ext cx="8839200" cy="51435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5486400" cy="5143500"/>
          </a:xfrm>
          <a:custGeom>
            <a:avLst/>
            <a:gdLst/>
            <a:ahLst/>
            <a:cxnLst/>
            <a:rect l="l" t="t" r="r" b="b"/>
            <a:pathLst>
              <a:path w="5291455" h="5143500">
                <a:moveTo>
                  <a:pt x="5291325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3725500" y="0"/>
                </a:lnTo>
                <a:lnTo>
                  <a:pt x="5291325" y="5143499"/>
                </a:lnTo>
                <a:close/>
              </a:path>
            </a:pathLst>
          </a:custGeom>
          <a:solidFill>
            <a:srgbClr val="1439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9600" y="1428750"/>
            <a:ext cx="348775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 dirty="0">
                <a:solidFill>
                  <a:srgbClr val="F3F3F3"/>
                </a:solidFill>
                <a:latin typeface="Arial"/>
                <a:cs typeface="Arial"/>
              </a:rPr>
              <a:t>Importancia de la cultura en el desarrollo sostenible 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" y="2800350"/>
            <a:ext cx="4003307" cy="17927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98450" marR="5080" indent="-285750">
              <a:lnSpc>
                <a:spcPct val="102299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lang="es-ES" sz="1600" spc="-55" dirty="0">
                <a:solidFill>
                  <a:srgbClr val="F3F3F3"/>
                </a:solidFill>
                <a:latin typeface="Trebuchet MS"/>
                <a:cs typeface="Trebuchet MS"/>
              </a:rPr>
              <a:t>la cultura y las artes son esenciales para el desarrollo social y económico </a:t>
            </a:r>
          </a:p>
          <a:p>
            <a:pPr marL="298450" marR="5080" indent="-285750">
              <a:lnSpc>
                <a:spcPct val="102299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lang="es-ES" sz="1600" spc="-55" dirty="0">
                <a:solidFill>
                  <a:srgbClr val="F3F3F3"/>
                </a:solidFill>
                <a:latin typeface="Trebuchet MS"/>
                <a:cs typeface="Trebuchet MS"/>
              </a:rPr>
              <a:t>la creatividad fomenta la comunicación y el trabajo en equipo </a:t>
            </a:r>
          </a:p>
          <a:p>
            <a:pPr marL="298450" marR="5080" indent="-285750">
              <a:lnSpc>
                <a:spcPct val="102299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lang="es-ES" sz="1600" spc="-55" dirty="0">
                <a:solidFill>
                  <a:srgbClr val="F3F3F3"/>
                </a:solidFill>
                <a:latin typeface="Trebuchet MS"/>
                <a:cs typeface="Trebuchet MS"/>
              </a:rPr>
              <a:t>la participación cultural mejora </a:t>
            </a:r>
          </a:p>
          <a:p>
            <a:pPr marL="298450" marR="5080" indent="-285750">
              <a:lnSpc>
                <a:spcPct val="102299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lang="es-ES" sz="1600" spc="-55" dirty="0">
                <a:solidFill>
                  <a:srgbClr val="F3F3F3"/>
                </a:solidFill>
                <a:latin typeface="Trebuchet MS"/>
                <a:cs typeface="Trebuchet MS"/>
              </a:rPr>
              <a:t>la calidad de vida las iniciativas culturales pueden ser herramientas del cambio social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1FC8DFE-2D24-4C85-12E4-14F2DEE7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630" y="4220003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0BD6F6-3545-0EDA-0681-0486BF2BA4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" r="11052"/>
          <a:stretch/>
        </p:blipFill>
        <p:spPr>
          <a:xfrm>
            <a:off x="2356690" y="0"/>
            <a:ext cx="6787310" cy="514350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304800" y="0"/>
            <a:ext cx="5077460" cy="5143500"/>
            <a:chOff x="-228600" y="0"/>
            <a:chExt cx="5077460" cy="51435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4848860" cy="5143500"/>
            </a:xfrm>
            <a:custGeom>
              <a:avLst/>
              <a:gdLst/>
              <a:ahLst/>
              <a:cxnLst/>
              <a:rect l="l" t="t" r="r" b="b"/>
              <a:pathLst>
                <a:path w="4848860" h="5143500">
                  <a:moveTo>
                    <a:pt x="3486349" y="5143499"/>
                  </a:moveTo>
                  <a:lnTo>
                    <a:pt x="209250" y="5143499"/>
                  </a:lnTo>
                  <a:lnTo>
                    <a:pt x="0" y="4724998"/>
                  </a:lnTo>
                  <a:lnTo>
                    <a:pt x="0" y="114401"/>
                  </a:lnTo>
                  <a:lnTo>
                    <a:pt x="57200" y="0"/>
                  </a:lnTo>
                  <a:lnTo>
                    <a:pt x="3638399" y="0"/>
                  </a:lnTo>
                  <a:lnTo>
                    <a:pt x="4848249" y="2419699"/>
                  </a:lnTo>
                  <a:lnTo>
                    <a:pt x="3486349" y="51434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228600" y="0"/>
              <a:ext cx="1638935" cy="5143500"/>
            </a:xfrm>
            <a:custGeom>
              <a:avLst/>
              <a:gdLst/>
              <a:ahLst/>
              <a:cxnLst/>
              <a:rect l="l" t="t" r="r" b="b"/>
              <a:pathLst>
                <a:path w="1638935" h="5143500">
                  <a:moveTo>
                    <a:pt x="276424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28474" y="0"/>
                  </a:lnTo>
                  <a:lnTo>
                    <a:pt x="1638324" y="2419699"/>
                  </a:lnTo>
                  <a:lnTo>
                    <a:pt x="276424" y="51434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95400" y="971550"/>
            <a:ext cx="2743200" cy="3549048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35"/>
              </a:spcBef>
            </a:pPr>
            <a:r>
              <a:rPr lang="es-ES" sz="1600" b="1" spc="160" dirty="0">
                <a:solidFill>
                  <a:srgbClr val="143978"/>
                </a:solidFill>
                <a:latin typeface="Arial"/>
                <a:cs typeface="Arial"/>
              </a:rPr>
              <a:t>Habilidades blandas y ODS </a:t>
            </a:r>
          </a:p>
          <a:p>
            <a:pPr marL="298450" indent="-285750" algn="l">
              <a:lnSpc>
                <a:spcPct val="10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lang="es-ES" sz="1400" spc="160" dirty="0">
                <a:solidFill>
                  <a:srgbClr val="143978"/>
                </a:solidFill>
                <a:latin typeface="Arial"/>
                <a:cs typeface="Arial"/>
              </a:rPr>
              <a:t>las disciplinas artísticas fomentan habilidades blandas y esenciales </a:t>
            </a:r>
          </a:p>
          <a:p>
            <a:pPr marL="298450" indent="-285750" algn="l">
              <a:lnSpc>
                <a:spcPct val="10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lang="es-ES" sz="1400" spc="160" dirty="0">
                <a:solidFill>
                  <a:srgbClr val="143978"/>
                </a:solidFill>
                <a:latin typeface="Arial"/>
                <a:cs typeface="Arial"/>
              </a:rPr>
              <a:t>la resiliencia es clave para enfrentar desafíos </a:t>
            </a:r>
          </a:p>
          <a:p>
            <a:pPr marL="298450" indent="-285750" algn="l">
              <a:lnSpc>
                <a:spcPct val="10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lang="es-ES" sz="1400" spc="160" dirty="0">
                <a:solidFill>
                  <a:srgbClr val="143978"/>
                </a:solidFill>
                <a:latin typeface="Arial"/>
                <a:cs typeface="Arial"/>
              </a:rPr>
              <a:t>el liderazgo empodera a los individuos </a:t>
            </a:r>
          </a:p>
          <a:p>
            <a:pPr marL="298450" indent="-285750" algn="l">
              <a:lnSpc>
                <a:spcPct val="10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lang="es-ES" sz="1400" spc="160" dirty="0">
                <a:solidFill>
                  <a:srgbClr val="143978"/>
                </a:solidFill>
                <a:latin typeface="Arial"/>
                <a:cs typeface="Arial"/>
              </a:rPr>
              <a:t>la práctica de las artes cultiva habilidades de manera efectiva</a:t>
            </a:r>
            <a:endParaRPr sz="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971550"/>
            <a:ext cx="5036910" cy="1477328"/>
          </a:xfrm>
        </p:spPr>
        <p:txBody>
          <a:bodyPr/>
          <a:lstStyle/>
          <a:p>
            <a:r>
              <a:rPr lang="es-ES" dirty="0"/>
              <a:t>EL ROL DE LA RADIO EN LA INCLUSIÓN </a:t>
            </a:r>
            <a:br>
              <a:rPr lang="es-ES" dirty="0"/>
            </a:br>
            <a:br>
              <a:rPr lang="es-ES" dirty="0"/>
            </a:b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93288" y="2038350"/>
            <a:ext cx="4038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la radio promueve la educación  de calidad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La radio permite que diversas voces sean escuchadas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la radio fomenta el pensamiento crítico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la radio fortaleza de la identidad cultural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0833"/>
          <a:stretch/>
        </p:blipFill>
        <p:spPr>
          <a:xfrm>
            <a:off x="4572000" y="1374874"/>
            <a:ext cx="4343400" cy="27432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0" y="209550"/>
            <a:ext cx="91440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6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42922"/>
            <a:ext cx="7948295" cy="3682365"/>
            <a:chOff x="-9525" y="1471200"/>
            <a:chExt cx="7948295" cy="3682365"/>
          </a:xfrm>
        </p:grpSpPr>
        <p:sp>
          <p:nvSpPr>
            <p:cNvPr id="3" name="object 3"/>
            <p:cNvSpPr/>
            <p:nvPr/>
          </p:nvSpPr>
          <p:spPr>
            <a:xfrm>
              <a:off x="0" y="2515667"/>
              <a:ext cx="1221740" cy="2628265"/>
            </a:xfrm>
            <a:custGeom>
              <a:avLst/>
              <a:gdLst/>
              <a:ahLst/>
              <a:cxnLst/>
              <a:rect l="l" t="t" r="r" b="b"/>
              <a:pathLst>
                <a:path w="1221740" h="2628265">
                  <a:moveTo>
                    <a:pt x="821588" y="2627832"/>
                  </a:moveTo>
                  <a:lnTo>
                    <a:pt x="814323" y="2627832"/>
                  </a:lnTo>
                  <a:lnTo>
                    <a:pt x="1215107" y="2121254"/>
                  </a:lnTo>
                  <a:lnTo>
                    <a:pt x="0" y="10231"/>
                  </a:lnTo>
                  <a:lnTo>
                    <a:pt x="0" y="0"/>
                  </a:lnTo>
                  <a:lnTo>
                    <a:pt x="1221678" y="2122327"/>
                  </a:lnTo>
                  <a:lnTo>
                    <a:pt x="821588" y="262783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515667"/>
              <a:ext cx="1221740" cy="2628265"/>
            </a:xfrm>
            <a:custGeom>
              <a:avLst/>
              <a:gdLst/>
              <a:ahLst/>
              <a:cxnLst/>
              <a:rect l="l" t="t" r="r" b="b"/>
              <a:pathLst>
                <a:path w="1221740" h="2628265">
                  <a:moveTo>
                    <a:pt x="0" y="10231"/>
                  </a:moveTo>
                  <a:lnTo>
                    <a:pt x="1215107" y="2121254"/>
                  </a:lnTo>
                  <a:lnTo>
                    <a:pt x="814323" y="2627832"/>
                  </a:lnTo>
                </a:path>
                <a:path w="1221740" h="2628265">
                  <a:moveTo>
                    <a:pt x="821588" y="2627832"/>
                  </a:moveTo>
                  <a:lnTo>
                    <a:pt x="1221032" y="2123137"/>
                  </a:lnTo>
                  <a:lnTo>
                    <a:pt x="1221678" y="2122327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4832" y="2313049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700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700" y="0"/>
                  </a:lnTo>
                  <a:lnTo>
                    <a:pt x="1933500" y="837599"/>
                  </a:lnTo>
                  <a:lnTo>
                    <a:pt x="1514700" y="16751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8275" y="1480725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02901" y="2313049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1514699" y="1675199"/>
                  </a:moveTo>
                  <a:lnTo>
                    <a:pt x="418799" y="1675199"/>
                  </a:lnTo>
                  <a:lnTo>
                    <a:pt x="0" y="837599"/>
                  </a:lnTo>
                  <a:lnTo>
                    <a:pt x="418799" y="0"/>
                  </a:lnTo>
                  <a:lnTo>
                    <a:pt x="1514699" y="0"/>
                  </a:lnTo>
                  <a:lnTo>
                    <a:pt x="1933499" y="837599"/>
                  </a:lnTo>
                  <a:lnTo>
                    <a:pt x="1514699" y="1675199"/>
                  </a:lnTo>
                  <a:close/>
                </a:path>
              </a:pathLst>
            </a:custGeom>
            <a:solidFill>
              <a:srgbClr val="143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5667" y="1480725"/>
              <a:ext cx="1933575" cy="1675764"/>
            </a:xfrm>
            <a:custGeom>
              <a:avLst/>
              <a:gdLst/>
              <a:ahLst/>
              <a:cxnLst/>
              <a:rect l="l" t="t" r="r" b="b"/>
              <a:pathLst>
                <a:path w="1933575" h="1675764">
                  <a:moveTo>
                    <a:pt x="0" y="837599"/>
                  </a:moveTo>
                  <a:lnTo>
                    <a:pt x="418799" y="0"/>
                  </a:lnTo>
                  <a:lnTo>
                    <a:pt x="1514700" y="0"/>
                  </a:lnTo>
                  <a:lnTo>
                    <a:pt x="1933500" y="837599"/>
                  </a:lnTo>
                  <a:lnTo>
                    <a:pt x="1514700" y="1675199"/>
                  </a:lnTo>
                  <a:lnTo>
                    <a:pt x="418799" y="1675199"/>
                  </a:lnTo>
                  <a:lnTo>
                    <a:pt x="0" y="837599"/>
                  </a:lnTo>
                  <a:close/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88347" y="275699"/>
            <a:ext cx="25673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b="1" dirty="0">
                <a:solidFill>
                  <a:srgbClr val="143978"/>
                </a:solidFill>
                <a:latin typeface="Arial"/>
                <a:cs typeface="Arial"/>
              </a:rPr>
              <a:t>DESARROLLO DE CONFIANZA Y EMPATÍA</a:t>
            </a:r>
            <a:endParaRPr lang="es-CO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8839" y="2825456"/>
            <a:ext cx="1324610" cy="59439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ES" sz="1100" b="1" spc="-10" dirty="0">
                <a:solidFill>
                  <a:srgbClr val="F3F3F3"/>
                </a:solidFill>
                <a:latin typeface="Arial"/>
                <a:cs typeface="Arial"/>
              </a:rPr>
              <a:t>la interacción y el diálogo construyen confianza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7383" y="2751244"/>
            <a:ext cx="1343660" cy="59439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ES" sz="1100" b="1" spc="-10" dirty="0">
                <a:solidFill>
                  <a:srgbClr val="F3F3F3"/>
                </a:solidFill>
                <a:latin typeface="Arial"/>
                <a:cs typeface="Arial"/>
              </a:rPr>
              <a:t>los programas radiales educan y sensibilizan 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5205" y="1984783"/>
            <a:ext cx="1555160" cy="6405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lang="es-ES" sz="1200" b="1" spc="-10" dirty="0">
                <a:solidFill>
                  <a:srgbClr val="143978"/>
                </a:solidFill>
                <a:latin typeface="Arial"/>
                <a:cs typeface="Arial"/>
              </a:rPr>
              <a:t>la empatía fomenta relaciones saludables 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2116" y="1818296"/>
            <a:ext cx="1350010" cy="76367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675"/>
              </a:spcBef>
            </a:pPr>
            <a:r>
              <a:rPr lang="es-ES" sz="1100" b="1" spc="-20" dirty="0">
                <a:solidFill>
                  <a:srgbClr val="143978"/>
                </a:solidFill>
                <a:latin typeface="Arial"/>
                <a:cs typeface="Arial"/>
              </a:rPr>
              <a:t>crear un entorno inclusivo donde todos se sientan valorados</a:t>
            </a:r>
            <a:endParaRPr sz="900" dirty="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19644" y="-9525"/>
            <a:ext cx="1234440" cy="1491615"/>
            <a:chOff x="7919644" y="-9525"/>
            <a:chExt cx="1234440" cy="1491615"/>
          </a:xfrm>
        </p:grpSpPr>
        <p:sp>
          <p:nvSpPr>
            <p:cNvPr id="15" name="object 15"/>
            <p:cNvSpPr/>
            <p:nvPr/>
          </p:nvSpPr>
          <p:spPr>
            <a:xfrm>
              <a:off x="7929169" y="0"/>
              <a:ext cx="1215390" cy="1472565"/>
            </a:xfrm>
            <a:custGeom>
              <a:avLst/>
              <a:gdLst/>
              <a:ahLst/>
              <a:cxnLst/>
              <a:rect l="l" t="t" r="r" b="b"/>
              <a:pathLst>
                <a:path w="1215390" h="1472565">
                  <a:moveTo>
                    <a:pt x="1214830" y="1472429"/>
                  </a:moveTo>
                  <a:lnTo>
                    <a:pt x="0" y="254441"/>
                  </a:lnTo>
                  <a:lnTo>
                    <a:pt x="109901" y="0"/>
                  </a:lnTo>
                  <a:lnTo>
                    <a:pt x="116180" y="0"/>
                  </a:lnTo>
                  <a:lnTo>
                    <a:pt x="6624" y="253776"/>
                  </a:lnTo>
                  <a:lnTo>
                    <a:pt x="1214830" y="1465178"/>
                  </a:lnTo>
                  <a:lnTo>
                    <a:pt x="1214830" y="147242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9169" y="0"/>
              <a:ext cx="1215390" cy="1472565"/>
            </a:xfrm>
            <a:custGeom>
              <a:avLst/>
              <a:gdLst/>
              <a:ahLst/>
              <a:cxnLst/>
              <a:rect l="l" t="t" r="r" b="b"/>
              <a:pathLst>
                <a:path w="1215390" h="1472565">
                  <a:moveTo>
                    <a:pt x="1214830" y="1465178"/>
                  </a:moveTo>
                  <a:lnTo>
                    <a:pt x="6624" y="253776"/>
                  </a:lnTo>
                  <a:lnTo>
                    <a:pt x="116180" y="0"/>
                  </a:lnTo>
                </a:path>
                <a:path w="1215390" h="1472565">
                  <a:moveTo>
                    <a:pt x="109901" y="0"/>
                  </a:moveTo>
                  <a:lnTo>
                    <a:pt x="413" y="253492"/>
                  </a:lnTo>
                  <a:lnTo>
                    <a:pt x="0" y="254441"/>
                  </a:lnTo>
                  <a:lnTo>
                    <a:pt x="1214830" y="1472429"/>
                  </a:lnTo>
                </a:path>
              </a:pathLst>
            </a:custGeom>
            <a:ln w="190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BD52F250-F977-3681-FC00-4A9114581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721" y="4095750"/>
            <a:ext cx="902286" cy="896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209550"/>
            <a:ext cx="9144000" cy="1676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23525" y="1123950"/>
            <a:ext cx="23727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b="1" spc="-35" dirty="0">
                <a:latin typeface="Arial"/>
                <a:cs typeface="Arial"/>
              </a:rPr>
              <a:t>CONCLUSIÓN</a:t>
            </a:r>
            <a:endParaRPr lang="es-CO" dirty="0">
              <a:latin typeface="Arial"/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9922F49-9484-140E-D703-0728DECCA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722" y="4095750"/>
            <a:ext cx="902286" cy="896190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38082" t="40673" r="27222" b="33752"/>
          <a:stretch/>
        </p:blipFill>
        <p:spPr>
          <a:xfrm>
            <a:off x="2057400" y="2266950"/>
            <a:ext cx="4961961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096125" cy="4410075"/>
          </a:xfrm>
          <a:custGeom>
            <a:avLst/>
            <a:gdLst/>
            <a:ahLst/>
            <a:cxnLst/>
            <a:rect l="l" t="t" r="r" b="b"/>
            <a:pathLst>
              <a:path w="7096125" h="4410075">
                <a:moveTo>
                  <a:pt x="7096124" y="0"/>
                </a:moveTo>
                <a:lnTo>
                  <a:pt x="6405562" y="2238374"/>
                </a:lnTo>
                <a:lnTo>
                  <a:pt x="5376862" y="2505074"/>
                </a:lnTo>
                <a:lnTo>
                  <a:pt x="3871912" y="4410074"/>
                </a:lnTo>
                <a:lnTo>
                  <a:pt x="0" y="4137831"/>
                </a:lnTo>
              </a:path>
            </a:pathLst>
          </a:custGeom>
          <a:ln w="1904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6423" y="1906244"/>
            <a:ext cx="4648200" cy="2813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Visita Nuestra Página Web</a:t>
            </a:r>
          </a:p>
          <a:p>
            <a:pPr algn="ctr"/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http://www.elojimjadach.org/</a:t>
            </a: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CO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s-CO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r>
              <a:rPr lang="en-US" sz="1300" b="1" spc="-80" dirty="0" err="1">
                <a:solidFill>
                  <a:srgbClr val="143978"/>
                </a:solidFill>
                <a:latin typeface="Arial"/>
                <a:cs typeface="Arial"/>
              </a:rPr>
              <a:t>Contactos</a:t>
            </a:r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elojim@elojimjadach.org</a:t>
            </a: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</a:rPr>
              <a:t> - </a:t>
            </a:r>
            <a:r>
              <a:rPr lang="es-MX" sz="1300" b="1" spc="-80" dirty="0">
                <a:solidFill>
                  <a:srgbClr val="143978"/>
                </a:solid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elojim.jadach@gmail.com</a:t>
            </a: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>
              <a:buNone/>
            </a:pPr>
            <a:endParaRPr lang="es-MX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¡El Futuro Te Espera !    </a:t>
            </a:r>
          </a:p>
          <a:p>
            <a:pPr algn="ctr"/>
            <a:r>
              <a:rPr lang="es-CO" sz="1300" b="1" spc="-80" dirty="0">
                <a:solidFill>
                  <a:srgbClr val="143978"/>
                </a:solidFill>
                <a:latin typeface="Arial"/>
                <a:cs typeface="Arial"/>
              </a:rPr>
              <a:t>No pierdas la oportunidad de crecer y aprender.</a:t>
            </a:r>
            <a:endParaRPr lang="en-US" sz="1300" b="1" spc="-80" dirty="0">
              <a:solidFill>
                <a:srgbClr val="143978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600" y="710464"/>
            <a:ext cx="4876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3200" b="1" spc="-20" dirty="0">
                <a:solidFill>
                  <a:srgbClr val="143978"/>
                </a:solidFill>
                <a:latin typeface="Arial"/>
                <a:cs typeface="Arial"/>
              </a:rPr>
              <a:t>¡Participa Hoy Mismo</a:t>
            </a:r>
            <a:r>
              <a:rPr sz="3200" b="1" spc="-20" dirty="0">
                <a:solidFill>
                  <a:srgbClr val="143978"/>
                </a:solidFill>
                <a:latin typeface="Arial"/>
                <a:cs typeface="Arial"/>
              </a:rPr>
              <a:t>!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2B08869-E18C-7D02-0B43-43F74CDB0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68199"/>
            <a:ext cx="902286" cy="896190"/>
          </a:xfrm>
          <a:prstGeom prst="rect">
            <a:avLst/>
          </a:prstGeom>
        </p:spPr>
      </p:pic>
      <p:pic>
        <p:nvPicPr>
          <p:cNvPr id="1026" name="Picture 2" descr="Pensamiento computacional y educación ...">
            <a:extLst>
              <a:ext uri="{FF2B5EF4-FFF2-40B4-BE49-F238E27FC236}">
                <a16:creationId xmlns:a16="http://schemas.microsoft.com/office/drawing/2014/main" id="{D09A8548-425B-876C-A4C5-ECFA77AC6F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1" t="22508" r="-1390" b="18689"/>
          <a:stretch/>
        </p:blipFill>
        <p:spPr bwMode="auto">
          <a:xfrm>
            <a:off x="4648201" y="1535951"/>
            <a:ext cx="4269376" cy="2559799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234</Words>
  <Application>Microsoft Office PowerPoint</Application>
  <PresentationFormat>Presentación en pantalla (16:9)</PresentationFormat>
  <Paragraphs>39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Arial MT</vt:lpstr>
      <vt:lpstr>Tahoma</vt:lpstr>
      <vt:lpstr>Trebuchet MS</vt:lpstr>
      <vt:lpstr>Office Theme</vt:lpstr>
      <vt:lpstr>Cultura, creatividad e inclusión</vt:lpstr>
      <vt:lpstr>Importancia de la cultura en el desarrollo sostenible </vt:lpstr>
      <vt:lpstr>Presentación de PowerPoint</vt:lpstr>
      <vt:lpstr>EL ROL DE LA RADIO EN LA INCLUSIÓN   </vt:lpstr>
      <vt:lpstr>DESARROLLO DE CONFIANZA Y EMPATÍA</vt:lpstr>
      <vt:lpstr>CONCLUSIÓN</vt:lpstr>
      <vt:lpstr>¡Participa Hoy Mismo!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Copia de Networking Newsletter Dark Blue variant</dc:title>
  <dc:creator>Administrator</dc:creator>
  <cp:lastModifiedBy>Jesús Forero</cp:lastModifiedBy>
  <cp:revision>8</cp:revision>
  <dcterms:created xsi:type="dcterms:W3CDTF">2025-05-14T04:31:22Z</dcterms:created>
  <dcterms:modified xsi:type="dcterms:W3CDTF">2026-01-24T03:40:12Z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2025-05-14T00:00:00Z</vt:filetime>
  </property>
</Properties>
</file>